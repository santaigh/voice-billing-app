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Flows: (1) The cashier logs in through Supabase Auth, picks a counter, and bills on the web app; bills are saved on the device first and uploaded through the automatic API, each bill with its items in one database call; the database accepts each bill number once. (2) Prices and counters are read through the API; row-level security returns only the signed-in user's shop. (3) Platform staff create shops and owners; owners manage users and counters and upload the price list. (4) Prices: the owner downloads an Excel template, fills it, and uploads it; the browser checks it, then one database function replaces the shop's price list. The file is not kept. (5) Bills are stored only in the bill and bill_item tables; there is no bills Excel and no Drive copy in version 1, and bills are never deleted, so watch database size. (6) The app files come from static hosting. Sizing: 10 shops x 100 bills a day is about 1000 bills a day, about 30 to 45 MB a month. Estimates only; verify current Supabase limits before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Billing SaaS: components and flows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web app for phone, tablet and browser. Supabase holds the data and the login. Prices come from an Excel file the owner uploads. Bills live only in the database.</a:t>
            </a:r>
            <a:endParaRPr lang="en-US" sz="1300" dirty="0"/>
          </a:p>
        </p:txBody>
      </p:sp>
      <p:sp>
        <p:nvSpPr>
          <p:cNvPr id="4" name="Panel CLIENTS: ONE WEB APP (PWA)"/>
          <p:cNvSpPr/>
          <p:nvPr/>
        </p:nvSpPr>
        <p:spPr>
          <a:xfrm>
            <a:off x="457200" y="1097280"/>
            <a:ext cx="3474720" cy="4617720"/>
          </a:xfrm>
          <a:prstGeom prst="roundRect">
            <a:avLst>
              <a:gd name="adj" fmla="val 2105"/>
            </a:avLst>
          </a:prstGeom>
          <a:solidFill>
            <a:srgbClr val="E8F0F8"/>
          </a:solidFill>
          <a:ln w="12700">
            <a:solidFill>
              <a:srgbClr val="C3D3E4"/>
            </a:solidFill>
            <a:prstDash val="solid"/>
          </a:ln>
        </p:spPr>
      </p:sp>
      <p:sp>
        <p:nvSpPr>
          <p:cNvPr id="5" name="Label CLIENTS: ONE WEB APP (PWA)"/>
          <p:cNvSpPr txBox="1"/>
          <p:nvPr/>
        </p:nvSpPr>
        <p:spPr>
          <a:xfrm>
            <a:off x="594360" y="1161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 ONE WEB APP (PWA)</a:t>
            </a:r>
            <a:endParaRPr lang="en-US" sz="1100" dirty="0"/>
          </a:p>
        </p:txBody>
      </p:sp>
      <p:sp>
        <p:nvSpPr>
          <p:cNvPr id="6" name="Box Cashier (AppUser)"/>
          <p:cNvSpPr/>
          <p:nvPr/>
        </p:nvSpPr>
        <p:spPr>
          <a:xfrm>
            <a:off x="640080" y="1417320"/>
            <a:ext cx="3108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B5C8A"/>
            </a:solidFill>
            <a:prstDash val="solid"/>
          </a:ln>
        </p:spPr>
      </p:sp>
      <p:sp>
        <p:nvSpPr>
          <p:cNvPr id="7" name="Text Cashier (AppUser)"/>
          <p:cNvSpPr txBox="1"/>
          <p:nvPr/>
        </p:nvSpPr>
        <p:spPr>
          <a:xfrm>
            <a:off x="749808" y="1417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(AppUser)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pick counter, type or speak, print</a:t>
            </a:r>
            <a:endParaRPr lang="en-US" sz="1300" dirty="0"/>
          </a:p>
        </p:txBody>
      </p:sp>
      <p:sp>
        <p:nvSpPr>
          <p:cNvPr id="8" name="Box Offline queue"/>
          <p:cNvSpPr/>
          <p:nvPr/>
        </p:nvSpPr>
        <p:spPr>
          <a:xfrm>
            <a:off x="640080" y="2377440"/>
            <a:ext cx="31089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B5C8A"/>
            </a:solidFill>
            <a:prstDash val="solid"/>
          </a:ln>
        </p:spPr>
      </p:sp>
      <p:sp>
        <p:nvSpPr>
          <p:cNvPr id="9" name="Text Offline queue"/>
          <p:cNvSpPr txBox="1"/>
          <p:nvPr/>
        </p:nvSpPr>
        <p:spPr>
          <a:xfrm>
            <a:off x="749808" y="2377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saved on the device first</a:t>
            </a:r>
            <a:endParaRPr lang="en-US" sz="1300" dirty="0"/>
          </a:p>
        </p:txBody>
      </p:sp>
      <p:sp>
        <p:nvSpPr>
          <p:cNvPr id="10" name="Box Platform staff"/>
          <p:cNvSpPr/>
          <p:nvPr/>
        </p:nvSpPr>
        <p:spPr>
          <a:xfrm>
            <a:off x="640080" y="3200400"/>
            <a:ext cx="3108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9050">
            <a:solidFill>
              <a:srgbClr val="2B5C8A"/>
            </a:solidFill>
            <a:prstDash val="solid"/>
          </a:ln>
        </p:spPr>
      </p:sp>
      <p:sp>
        <p:nvSpPr>
          <p:cNvPr id="11" name="Text Platform staff"/>
          <p:cNvSpPr txBox="1"/>
          <p:nvPr/>
        </p:nvSpPr>
        <p:spPr>
          <a:xfrm>
            <a:off x="749808" y="3200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staff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SaaSSA, SaaSAdmin, SaaSUser: shops and owners</a:t>
            </a:r>
            <a:endParaRPr lang="en-US" sz="1300" dirty="0"/>
          </a:p>
        </p:txBody>
      </p:sp>
      <p:sp>
        <p:nvSpPr>
          <p:cNvPr id="12" name="Box Shop owner"/>
          <p:cNvSpPr/>
          <p:nvPr/>
        </p:nvSpPr>
        <p:spPr>
          <a:xfrm>
            <a:off x="640080" y="4114800"/>
            <a:ext cx="31089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B5C8A"/>
            </a:solidFill>
            <a:prstDash val="solid"/>
          </a:ln>
        </p:spPr>
      </p:sp>
      <p:sp>
        <p:nvSpPr>
          <p:cNvPr id="13" name="Text Shop owner"/>
          <p:cNvSpPr txBox="1"/>
          <p:nvPr/>
        </p:nvSpPr>
        <p:spPr>
          <a:xfrm>
            <a:off x="749808" y="41148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owner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AppSA, AppAdmin: users, counters, upload prices (Excel)</a:t>
            </a:r>
            <a:endParaRPr lang="en-US" sz="1300" dirty="0"/>
          </a:p>
        </p:txBody>
      </p:sp>
      <p:sp>
        <p:nvSpPr>
          <p:cNvPr id="14" name="Panel SUPABASE (MANAGED, MUMBAI REGION)"/>
          <p:cNvSpPr/>
          <p:nvPr/>
        </p:nvSpPr>
        <p:spPr>
          <a:xfrm>
            <a:off x="4480560" y="1097280"/>
            <a:ext cx="4023360" cy="4617720"/>
          </a:xfrm>
          <a:prstGeom prst="roundRect">
            <a:avLst>
              <a:gd name="adj" fmla="val 1818"/>
            </a:avLst>
          </a:prstGeom>
          <a:solidFill>
            <a:srgbClr val="E6F2EB"/>
          </a:solidFill>
          <a:ln w="12700">
            <a:solidFill>
              <a:srgbClr val="B7D6C4"/>
            </a:solidFill>
            <a:prstDash val="solid"/>
          </a:ln>
        </p:spPr>
      </p:sp>
      <p:sp>
        <p:nvSpPr>
          <p:cNvPr id="15" name="Label SUPABASE (MANAGED, MUMBAI REGION)"/>
          <p:cNvSpPr txBox="1"/>
          <p:nvPr/>
        </p:nvSpPr>
        <p:spPr>
          <a:xfrm>
            <a:off x="4617720" y="1161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(MANAGED, MUMBAI REGION)</a:t>
            </a:r>
            <a:endParaRPr lang="en-US" sz="1100" dirty="0"/>
          </a:p>
        </p:txBody>
      </p:sp>
      <p:sp>
        <p:nvSpPr>
          <p:cNvPr id="16" name="Box Auth"/>
          <p:cNvSpPr/>
          <p:nvPr/>
        </p:nvSpPr>
        <p:spPr>
          <a:xfrm>
            <a:off x="4663440" y="1417320"/>
            <a:ext cx="36576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1F6E4A"/>
            </a:solidFill>
            <a:prstDash val="solid"/>
          </a:ln>
        </p:spPr>
      </p:sp>
      <p:sp>
        <p:nvSpPr>
          <p:cNvPr id="17" name="Text Auth"/>
          <p:cNvSpPr txBox="1"/>
          <p:nvPr/>
        </p:nvSpPr>
        <p:spPr>
          <a:xfrm>
            <a:off x="4773168" y="1417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hashed passwords, lockout, tokens</a:t>
            </a:r>
            <a:endParaRPr lang="en-US" sz="1300" dirty="0"/>
          </a:p>
        </p:txBody>
      </p:sp>
      <p:sp>
        <p:nvSpPr>
          <p:cNvPr id="18" name="Box Automatic API (HTTPS)"/>
          <p:cNvSpPr/>
          <p:nvPr/>
        </p:nvSpPr>
        <p:spPr>
          <a:xfrm>
            <a:off x="4663440" y="2194560"/>
            <a:ext cx="36576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9050">
            <a:solidFill>
              <a:srgbClr val="1F6E4A"/>
            </a:solidFill>
            <a:prstDash val="solid"/>
          </a:ln>
        </p:spPr>
      </p:sp>
      <p:sp>
        <p:nvSpPr>
          <p:cNvPr id="19" name="Text Automatic API (HTTPS)"/>
          <p:cNvSpPr txBox="1"/>
          <p:nvPr/>
        </p:nvSpPr>
        <p:spPr>
          <a:xfrm>
            <a:off x="4773168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API (HTTPS)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writes, checked by the database</a:t>
            </a:r>
            <a:endParaRPr lang="en-US" sz="1300" dirty="0"/>
          </a:p>
        </p:txBody>
      </p:sp>
      <p:sp>
        <p:nvSpPr>
          <p:cNvPr id="20" name="Box Postgres with row-level security"/>
          <p:cNvSpPr/>
          <p:nvPr/>
        </p:nvSpPr>
        <p:spPr>
          <a:xfrm>
            <a:off x="4663440" y="2971800"/>
            <a:ext cx="3657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9050">
            <a:solidFill>
              <a:srgbClr val="1F6E4A"/>
            </a:solidFill>
            <a:prstDash val="solid"/>
          </a:ln>
        </p:spPr>
      </p:sp>
      <p:sp>
        <p:nvSpPr>
          <p:cNvPr id="21" name="Text Postgres with row-level security"/>
          <p:cNvSpPr txBox="1"/>
          <p:nvPr/>
        </p:nvSpPr>
        <p:spPr>
          <a:xfrm>
            <a:off x="4773168" y="2971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with row-level security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shop, profile, counter, product, bill, bill_item, audit log. Every row has a shop_id.</a:t>
            </a:r>
            <a:endParaRPr lang="en-US" sz="1300" dirty="0"/>
          </a:p>
        </p:txBody>
      </p:sp>
      <p:sp>
        <p:nvSpPr>
          <p:cNvPr id="22" name="Box Database functions (SQL)"/>
          <p:cNvSpPr/>
          <p:nvPr/>
        </p:nvSpPr>
        <p:spPr>
          <a:xfrm>
            <a:off x="4663440" y="4572000"/>
            <a:ext cx="36576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9050">
            <a:solidFill>
              <a:srgbClr val="1F6E4A"/>
            </a:solidFill>
            <a:prstDash val="solid"/>
          </a:ln>
        </p:spPr>
      </p:sp>
      <p:sp>
        <p:nvSpPr>
          <p:cNvPr id="23" name="Text Database functions (SQL)"/>
          <p:cNvSpPr txBox="1"/>
          <p:nvPr/>
        </p:nvSpPr>
        <p:spPr>
          <a:xfrm>
            <a:off x="4773168" y="45720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functions (SQL)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bill once, replace the price list, number bills per counter</a:t>
            </a:r>
            <a:endParaRPr lang="en-US" sz="1300" dirty="0"/>
          </a:p>
        </p:txBody>
      </p:sp>
      <p:sp>
        <p:nvSpPr>
          <p:cNvPr id="24" name="Arrow"/>
          <p:cNvSpPr/>
          <p:nvPr/>
        </p:nvSpPr>
        <p:spPr>
          <a:xfrm>
            <a:off x="6492240" y="1965960"/>
            <a:ext cx="0" cy="228600"/>
          </a:xfrm>
          <a:prstGeom prst="line">
            <a:avLst/>
          </a:prstGeom>
          <a:noFill/>
          <a:ln w="22225">
            <a:solidFill>
              <a:srgbClr val="46544D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>
            <a:off x="6492240" y="2743200"/>
            <a:ext cx="0" cy="228600"/>
          </a:xfrm>
          <a:prstGeom prst="line">
            <a:avLst/>
          </a:prstGeom>
          <a:noFill/>
          <a:ln w="22225">
            <a:solidFill>
              <a:srgbClr val="46544D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>
            <a:off x="6492240" y="4343400"/>
            <a:ext cx="0" cy="228600"/>
          </a:xfrm>
          <a:prstGeom prst="line">
            <a:avLst/>
          </a:prstGeom>
          <a:noFill/>
          <a:ln w="22225">
            <a:solidFill>
              <a:srgbClr val="46544D"/>
            </a:solidFill>
            <a:prstDash val="solid"/>
            <a:tailEnd type="triangle"/>
          </a:ln>
        </p:spPr>
      </p:sp>
      <p:sp>
        <p:nvSpPr>
          <p:cNvPr id="27" name="Panel RULES THAT PROTECT MONEY"/>
          <p:cNvSpPr/>
          <p:nvPr/>
        </p:nvSpPr>
        <p:spPr>
          <a:xfrm>
            <a:off x="9052560" y="1097280"/>
            <a:ext cx="2679192" cy="46177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2700">
            <a:solidFill>
              <a:srgbClr val="D9DEE2"/>
            </a:solidFill>
            <a:prstDash val="solid"/>
          </a:ln>
        </p:spPr>
      </p:sp>
      <p:sp>
        <p:nvSpPr>
          <p:cNvPr id="28" name="Label RULES THAT PROTECT MONEY"/>
          <p:cNvSpPr txBox="1"/>
          <p:nvPr/>
        </p:nvSpPr>
        <p:spPr>
          <a:xfrm>
            <a:off x="9189720" y="116128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PROTECT MONEY</a:t>
            </a:r>
            <a:endParaRPr lang="en-US" sz="1100" dirty="0"/>
          </a:p>
        </p:txBody>
      </p:sp>
      <p:sp>
        <p:nvSpPr>
          <p:cNvPr id="29" name="Rules text"/>
          <p:cNvSpPr txBox="1"/>
          <p:nvPr/>
        </p:nvSpPr>
        <p:spPr>
          <a:xfrm>
            <a:off x="9189720" y="1463040"/>
            <a:ext cx="2423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has a shop_id: shop A never sees shop B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numbers per counter: shop-counter-date-NNN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bill and its items are saved together, once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are never edited; a correction is a void entry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name and price are copied into the bill, so old bills never change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Prices: the owner's Excel is master. Bills: only in the database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SMS cost: email or mobile with password</a:t>
            </a:r>
            <a:endParaRPr lang="en-US" sz="1150" dirty="0"/>
          </a:p>
        </p:txBody>
      </p:sp>
      <p:sp>
        <p:nvSpPr>
          <p:cNvPr id="30" name="Arrow"/>
          <p:cNvSpPr/>
          <p:nvPr/>
        </p:nvSpPr>
        <p:spPr>
          <a:xfrm>
            <a:off x="3749040" y="1691640"/>
            <a:ext cx="914400" cy="0"/>
          </a:xfrm>
          <a:prstGeom prst="line">
            <a:avLst/>
          </a:prstGeom>
          <a:noFill/>
          <a:ln w="22225">
            <a:solidFill>
              <a:srgbClr val="46544D"/>
            </a:solidFill>
            <a:prstDash val="solid"/>
            <a:tailEnd type="triangle"/>
          </a:ln>
        </p:spPr>
      </p:sp>
      <p:sp>
        <p:nvSpPr>
          <p:cNvPr id="31" name="Tag login"/>
          <p:cNvSpPr txBox="1"/>
          <p:nvPr/>
        </p:nvSpPr>
        <p:spPr>
          <a:xfrm>
            <a:off x="3749040" y="1463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32" name="Arrow"/>
          <p:cNvSpPr/>
          <p:nvPr/>
        </p:nvSpPr>
        <p:spPr>
          <a:xfrm>
            <a:off x="3749040" y="2606040"/>
            <a:ext cx="914400" cy="0"/>
          </a:xfrm>
          <a:prstGeom prst="line">
            <a:avLst/>
          </a:prstGeom>
          <a:noFill/>
          <a:ln w="22225">
            <a:solidFill>
              <a:srgbClr val="46544D"/>
            </a:solidFill>
            <a:prstDash val="solid"/>
            <a:headEnd type="triangle"/>
            <a:tailEnd type="triangle"/>
          </a:ln>
        </p:spPr>
      </p:sp>
      <p:sp>
        <p:nvSpPr>
          <p:cNvPr id="33" name="Tag prices, bills"/>
          <p:cNvSpPr txBox="1"/>
          <p:nvPr/>
        </p:nvSpPr>
        <p:spPr>
          <a:xfrm>
            <a:off x="3749040" y="2377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bills</a:t>
            </a:r>
            <a:endParaRPr lang="en-US" sz="1000" dirty="0"/>
          </a:p>
        </p:txBody>
      </p:sp>
      <p:sp>
        <p:nvSpPr>
          <p:cNvPr id="34" name="Arrow"/>
          <p:cNvSpPr/>
          <p:nvPr/>
        </p:nvSpPr>
        <p:spPr>
          <a:xfrm>
            <a:off x="3749040" y="3611880"/>
            <a:ext cx="914400" cy="0"/>
          </a:xfrm>
          <a:prstGeom prst="line">
            <a:avLst/>
          </a:prstGeom>
          <a:noFill/>
          <a:ln w="22225">
            <a:solidFill>
              <a:srgbClr val="46544D"/>
            </a:solidFill>
            <a:prstDash val="solid"/>
            <a:tailEnd type="triangle"/>
          </a:ln>
        </p:spPr>
      </p:sp>
      <p:sp>
        <p:nvSpPr>
          <p:cNvPr id="35" name="Tag shops, users"/>
          <p:cNvSpPr txBox="1"/>
          <p:nvPr/>
        </p:nvSpPr>
        <p:spPr>
          <a:xfrm>
            <a:off x="3749040" y="3383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shops, users</a:t>
            </a:r>
            <a:endParaRPr lang="en-US" sz="1000" dirty="0"/>
          </a:p>
        </p:txBody>
      </p:sp>
      <p:sp>
        <p:nvSpPr>
          <p:cNvPr id="36" name="Arrow"/>
          <p:cNvSpPr/>
          <p:nvPr/>
        </p:nvSpPr>
        <p:spPr>
          <a:xfrm>
            <a:off x="3749040" y="4251960"/>
            <a:ext cx="914400" cy="0"/>
          </a:xfrm>
          <a:prstGeom prst="line">
            <a:avLst/>
          </a:prstGeom>
          <a:noFill/>
          <a:ln w="22225">
            <a:solidFill>
              <a:srgbClr val="46544D"/>
            </a:solidFill>
            <a:prstDash val="solid"/>
            <a:tailEnd type="triangle"/>
          </a:ln>
        </p:spPr>
      </p:sp>
      <p:sp>
        <p:nvSpPr>
          <p:cNvPr id="37" name="Tag prices, users"/>
          <p:cNvSpPr txBox="1"/>
          <p:nvPr/>
        </p:nvSpPr>
        <p:spPr>
          <a:xfrm>
            <a:off x="3749040" y="4023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users</a:t>
            </a:r>
            <a:endParaRPr lang="en-US" sz="1000" dirty="0"/>
          </a:p>
        </p:txBody>
      </p:sp>
      <p:sp>
        <p:nvSpPr>
          <p:cNvPr id="38" name="Box Static app hosting"/>
          <p:cNvSpPr/>
          <p:nvPr/>
        </p:nvSpPr>
        <p:spPr>
          <a:xfrm>
            <a:off x="640080" y="5989320"/>
            <a:ext cx="3108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B5C8A"/>
            </a:solidFill>
            <a:prstDash val="solid"/>
          </a:ln>
        </p:spPr>
      </p:sp>
      <p:sp>
        <p:nvSpPr>
          <p:cNvPr id="39" name="Text Static app hosting"/>
          <p:cNvSpPr txBox="1"/>
          <p:nvPr/>
        </p:nvSpPr>
        <p:spPr>
          <a:xfrm>
            <a:off x="749808" y="5989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 hosting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or Cloudflare Pages, free</a:t>
            </a:r>
            <a:endParaRPr lang="en-US" sz="1300" dirty="0"/>
          </a:p>
        </p:txBody>
      </p:sp>
      <p:sp>
        <p:nvSpPr>
          <p:cNvPr id="40" name="Arrow"/>
          <p:cNvSpPr/>
          <p:nvPr/>
        </p:nvSpPr>
        <p:spPr>
          <a:xfrm flipV="1">
            <a:off x="2194560" y="5715000"/>
            <a:ext cx="0" cy="274320"/>
          </a:xfrm>
          <a:prstGeom prst="line">
            <a:avLst/>
          </a:prstGeom>
          <a:noFill/>
          <a:ln w="22225">
            <a:solidFill>
              <a:srgbClr val="46544D"/>
            </a:solidFill>
            <a:prstDash val="solid"/>
            <a:tailEnd type="triangle"/>
          </a:ln>
        </p:spPr>
      </p:sp>
      <p:sp>
        <p:nvSpPr>
          <p:cNvPr id="41" name="Tag app files"/>
          <p:cNvSpPr txBox="1"/>
          <p:nvPr/>
        </p:nvSpPr>
        <p:spPr>
          <a:xfrm>
            <a:off x="2286000" y="57424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files</a:t>
            </a:r>
            <a:endParaRPr lang="en-US" sz="1000" dirty="0"/>
          </a:p>
        </p:txBody>
      </p:sp>
      <p:sp>
        <p:nvSpPr>
          <p:cNvPr id="42" name="Box cost"/>
          <p:cNvSpPr/>
          <p:nvPr/>
        </p:nvSpPr>
        <p:spPr>
          <a:xfrm>
            <a:off x="4480560" y="5989320"/>
            <a:ext cx="7251192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B26A00"/>
            </a:solidFill>
            <a:prstDash val="solid"/>
          </a:ln>
        </p:spPr>
      </p:sp>
      <p:sp>
        <p:nvSpPr>
          <p:cNvPr id="43" name="Cost text"/>
          <p:cNvSpPr txBox="1"/>
          <p:nvPr/>
        </p:nvSpPr>
        <p:spPr>
          <a:xfrm>
            <a:off x="4617720" y="5989320"/>
            <a:ext cx="6995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buNone/>
            </a:pPr>
            <a:r>
              <a:rPr lang="en-US" sz="1100" dirty="0">
                <a:solidFill>
                  <a:srgbClr val="556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Rs 0 for 10 shops x 100 bills a day (roughly 30 MB a month on the free 500 MB database). About $25 a month (Pro plan) once shops depend on 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 Billing SaaS - architecture and flows</dc:title>
  <dc:subject>PptxGenJS Presentation</dc:subject>
  <dc:creator>Voice Billing</dc:creator>
  <cp:lastModifiedBy>Voice Billing</cp:lastModifiedBy>
  <cp:revision>1</cp:revision>
  <dcterms:created xsi:type="dcterms:W3CDTF">2026-10-08T17:46:33Z</dcterms:created>
  <dcterms:modified xsi:type="dcterms:W3CDTF">2026-10-08T17:46:33Z</dcterms:modified>
</cp:coreProperties>
</file>