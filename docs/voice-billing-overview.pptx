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Flows: (1) Owner pushes code; GitHub Actions runs the unit tests and deploys to GitHub Pages; the owner shares the app link. The owner keeps one Google Sheet as the master price list and publishes it to the web as CSV. (2) On the phone the app opens (installable, works offline), fetches the price list on every open and replaces the saved list, then billing by typing or live voice: one clear match is added by itself, ambiguous words show suggestions to tap. 'Bill confirm' starts a 3 second countdown (or tap Generate Bill); the bill is saved on the phone with number DDMMYYYY-NNN; 'print bill' prints the last confirmed bill on the 58 mm printer. (3) The Bills tab reads the bills saved on this phone: view, print, export to Excel, delete all. (4) Each saved bill is put on a to-send list and sent in the background to the Apps Script web app with a secret key, which writes it to the Shop Billing sheet (Bills and Bill items tabs). A bill number already in the sheet is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57200" y="228600"/>
            <a:ext cx="11247120" cy="502920"/>
          </a:xfrm>
          <a:prstGeom prst="rect">
            <a:avLst/>
          </a:prstGeom>
          <a:noFill/>
          <a:ln/>
        </p:spPr>
        <p:txBody>
          <a:bodyPr wrap="square" lIns="0" tIns="0" rIns="0" bIns="0" rtlCol="0" anchor="ctr"/>
          <a:lstStyle/>
          <a:p>
            <a:pPr indent="0" marL="0">
              <a:buNone/>
            </a:pPr>
            <a:r>
              <a:rPr lang="en-US" sz="3000" b="1" dirty="0">
                <a:solidFill>
                  <a:srgbClr val="1F6E4A"/>
                </a:solidFill>
                <a:latin typeface="Calibri" pitchFamily="34" charset="0"/>
                <a:ea typeface="Calibri" pitchFamily="34" charset="-122"/>
                <a:cs typeface="Calibri" pitchFamily="34" charset="-120"/>
              </a:rPr>
              <a:t>Voice Billing: all flows on one page</a:t>
            </a:r>
            <a:endParaRPr lang="en-US" sz="3000" dirty="0"/>
          </a:p>
        </p:txBody>
      </p:sp>
      <p:sp>
        <p:nvSpPr>
          <p:cNvPr id="3" name="Subtitle"/>
          <p:cNvSpPr txBox="1"/>
          <p:nvPr/>
        </p:nvSpPr>
        <p:spPr>
          <a:xfrm>
            <a:off x="457200" y="749808"/>
            <a:ext cx="11247120" cy="274320"/>
          </a:xfrm>
          <a:prstGeom prst="rect">
            <a:avLst/>
          </a:prstGeom>
          <a:noFill/>
          <a:ln/>
        </p:spPr>
        <p:txBody>
          <a:bodyPr wrap="square" lIns="0" tIns="0" rIns="0" bIns="0" rtlCol="0" anchor="ctr"/>
          <a:lstStyle/>
          <a:p>
            <a:pPr indent="0" marL="0">
              <a:buNone/>
            </a:pPr>
            <a:r>
              <a:rPr lang="en-US" sz="1300" dirty="0">
                <a:solidFill>
                  <a:srgbClr val="55635C"/>
                </a:solidFill>
                <a:latin typeface="Calibri" pitchFamily="34" charset="0"/>
                <a:ea typeface="Calibri" pitchFamily="34" charset="-122"/>
                <a:cs typeface="Calibri" pitchFamily="34" charset="-120"/>
              </a:rPr>
              <a:t>The owner publishes the app and the price list. The phone bills by typing or voice. Every bill is saved on the phone first, then copied to Google Sheet.</a:t>
            </a:r>
            <a:endParaRPr lang="en-US" sz="1300" dirty="0"/>
          </a:p>
        </p:txBody>
      </p:sp>
      <p:sp>
        <p:nvSpPr>
          <p:cNvPr id="4" name="Panel 1  SHOP OWNER (ON A PC)"/>
          <p:cNvSpPr/>
          <p:nvPr/>
        </p:nvSpPr>
        <p:spPr>
          <a:xfrm>
            <a:off x="457200" y="1188720"/>
            <a:ext cx="11274552" cy="1234440"/>
          </a:xfrm>
          <a:prstGeom prst="roundRect">
            <a:avLst>
              <a:gd name="adj" fmla="val 5926"/>
            </a:avLst>
          </a:prstGeom>
          <a:solidFill>
            <a:srgbClr val="EEF2F6"/>
          </a:solidFill>
          <a:ln w="12700">
            <a:solidFill>
              <a:srgbClr val="C9D3DD"/>
            </a:solidFill>
            <a:prstDash val="solid"/>
          </a:ln>
        </p:spPr>
      </p:sp>
      <p:sp>
        <p:nvSpPr>
          <p:cNvPr id="5" name="Label 1  SHOP OWNER (ON A PC)"/>
          <p:cNvSpPr txBox="1"/>
          <p:nvPr/>
        </p:nvSpPr>
        <p:spPr>
          <a:xfrm>
            <a:off x="594360" y="1243584"/>
            <a:ext cx="11000232" cy="274320"/>
          </a:xfrm>
          <a:prstGeom prst="rect">
            <a:avLst/>
          </a:prstGeom>
          <a:noFill/>
          <a:ln/>
        </p:spPr>
        <p:txBody>
          <a:bodyPr wrap="square" lIns="0" tIns="0" rIns="0" bIns="0" rtlCol="0" anchor="ctr"/>
          <a:lstStyle/>
          <a:p>
            <a:pPr indent="0" marL="0">
              <a:buNone/>
            </a:pPr>
            <a:r>
              <a:rPr lang="en-US" sz="1100" b="1" dirty="0">
                <a:solidFill>
                  <a:srgbClr val="2B5C8A"/>
                </a:solidFill>
                <a:latin typeface="Calibri" pitchFamily="34" charset="0"/>
                <a:ea typeface="Calibri" pitchFamily="34" charset="-122"/>
                <a:cs typeface="Calibri" pitchFamily="34" charset="-120"/>
              </a:rPr>
              <a:t>1  SHOP OWNER (ON A PC)</a:t>
            </a:r>
            <a:endParaRPr lang="en-US" sz="1100" dirty="0"/>
          </a:p>
        </p:txBody>
      </p:sp>
      <p:sp>
        <p:nvSpPr>
          <p:cNvPr id="6" name="Box Push code"/>
          <p:cNvSpPr/>
          <p:nvPr/>
        </p:nvSpPr>
        <p:spPr>
          <a:xfrm>
            <a:off x="731520" y="1600200"/>
            <a:ext cx="1828800" cy="658368"/>
          </a:xfrm>
          <a:prstGeom prst="roundRect">
            <a:avLst>
              <a:gd name="adj" fmla="val 9722"/>
            </a:avLst>
          </a:prstGeom>
          <a:solidFill>
            <a:srgbClr val="FFFFFF"/>
          </a:solidFill>
          <a:ln w="19050">
            <a:solidFill>
              <a:srgbClr val="2B5C8A"/>
            </a:solidFill>
            <a:prstDash val="solid"/>
          </a:ln>
        </p:spPr>
      </p:sp>
      <p:sp>
        <p:nvSpPr>
          <p:cNvPr id="7" name="Text Push code"/>
          <p:cNvSpPr txBox="1"/>
          <p:nvPr/>
        </p:nvSpPr>
        <p:spPr>
          <a:xfrm>
            <a:off x="841248" y="1600200"/>
            <a:ext cx="1645920" cy="65836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Push code</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git push to GitHub</a:t>
            </a:r>
            <a:endParaRPr lang="en-US" sz="1300" dirty="0"/>
          </a:p>
        </p:txBody>
      </p:sp>
      <p:sp>
        <p:nvSpPr>
          <p:cNvPr id="8" name="Arrow"/>
          <p:cNvSpPr/>
          <p:nvPr/>
        </p:nvSpPr>
        <p:spPr>
          <a:xfrm>
            <a:off x="2560320" y="1929384"/>
            <a:ext cx="365760" cy="0"/>
          </a:xfrm>
          <a:prstGeom prst="line">
            <a:avLst/>
          </a:prstGeom>
          <a:noFill/>
          <a:ln w="22225">
            <a:solidFill>
              <a:srgbClr val="46544D"/>
            </a:solidFill>
            <a:prstDash val="solid"/>
            <a:tailEnd type="triangle"/>
          </a:ln>
        </p:spPr>
      </p:sp>
      <p:sp>
        <p:nvSpPr>
          <p:cNvPr id="9" name="Box GitHub Actions"/>
          <p:cNvSpPr/>
          <p:nvPr/>
        </p:nvSpPr>
        <p:spPr>
          <a:xfrm>
            <a:off x="2926080" y="1600200"/>
            <a:ext cx="2286000" cy="658368"/>
          </a:xfrm>
          <a:prstGeom prst="roundRect">
            <a:avLst>
              <a:gd name="adj" fmla="val 9722"/>
            </a:avLst>
          </a:prstGeom>
          <a:solidFill>
            <a:srgbClr val="FFFFFF"/>
          </a:solidFill>
          <a:ln w="19050">
            <a:solidFill>
              <a:srgbClr val="2B5C8A"/>
            </a:solidFill>
            <a:prstDash val="solid"/>
          </a:ln>
        </p:spPr>
      </p:sp>
      <p:sp>
        <p:nvSpPr>
          <p:cNvPr id="10" name="Text GitHub Actions"/>
          <p:cNvSpPr txBox="1"/>
          <p:nvPr/>
        </p:nvSpPr>
        <p:spPr>
          <a:xfrm>
            <a:off x="3035808" y="1600200"/>
            <a:ext cx="2103120" cy="65836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GitHub Actions</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unit tests, then deploy</a:t>
            </a:r>
            <a:endParaRPr lang="en-US" sz="1300" dirty="0"/>
          </a:p>
        </p:txBody>
      </p:sp>
      <p:sp>
        <p:nvSpPr>
          <p:cNvPr id="11" name="Arrow"/>
          <p:cNvSpPr/>
          <p:nvPr/>
        </p:nvSpPr>
        <p:spPr>
          <a:xfrm>
            <a:off x="5212080" y="1929384"/>
            <a:ext cx="365760" cy="0"/>
          </a:xfrm>
          <a:prstGeom prst="line">
            <a:avLst/>
          </a:prstGeom>
          <a:noFill/>
          <a:ln w="22225">
            <a:solidFill>
              <a:srgbClr val="46544D"/>
            </a:solidFill>
            <a:prstDash val="solid"/>
            <a:tailEnd type="triangle"/>
          </a:ln>
        </p:spPr>
      </p:sp>
      <p:sp>
        <p:nvSpPr>
          <p:cNvPr id="12" name="Box App link"/>
          <p:cNvSpPr/>
          <p:nvPr/>
        </p:nvSpPr>
        <p:spPr>
          <a:xfrm>
            <a:off x="5577840" y="1600200"/>
            <a:ext cx="1828800" cy="658368"/>
          </a:xfrm>
          <a:prstGeom prst="roundRect">
            <a:avLst>
              <a:gd name="adj" fmla="val 9722"/>
            </a:avLst>
          </a:prstGeom>
          <a:solidFill>
            <a:srgbClr val="FFFFFF"/>
          </a:solidFill>
          <a:ln w="19050">
            <a:solidFill>
              <a:srgbClr val="2B5C8A"/>
            </a:solidFill>
            <a:prstDash val="solid"/>
          </a:ln>
        </p:spPr>
      </p:sp>
      <p:sp>
        <p:nvSpPr>
          <p:cNvPr id="13" name="Text App link"/>
          <p:cNvSpPr txBox="1"/>
          <p:nvPr/>
        </p:nvSpPr>
        <p:spPr>
          <a:xfrm>
            <a:off x="5687568" y="1600200"/>
            <a:ext cx="1645920" cy="65836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App link</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GitHub Pages (https)</a:t>
            </a:r>
            <a:endParaRPr lang="en-US" sz="1300" dirty="0"/>
          </a:p>
        </p:txBody>
      </p:sp>
      <p:sp>
        <p:nvSpPr>
          <p:cNvPr id="14" name="Box Google Sheet"/>
          <p:cNvSpPr/>
          <p:nvPr/>
        </p:nvSpPr>
        <p:spPr>
          <a:xfrm>
            <a:off x="7955280" y="1600200"/>
            <a:ext cx="1920240" cy="658368"/>
          </a:xfrm>
          <a:prstGeom prst="roundRect">
            <a:avLst>
              <a:gd name="adj" fmla="val 9722"/>
            </a:avLst>
          </a:prstGeom>
          <a:solidFill>
            <a:srgbClr val="FFFFFF"/>
          </a:solidFill>
          <a:ln w="19050">
            <a:solidFill>
              <a:srgbClr val="B26A00"/>
            </a:solidFill>
            <a:prstDash val="solid"/>
          </a:ln>
        </p:spPr>
      </p:sp>
      <p:sp>
        <p:nvSpPr>
          <p:cNvPr id="15" name="Text Google Sheet"/>
          <p:cNvSpPr txBox="1"/>
          <p:nvPr/>
        </p:nvSpPr>
        <p:spPr>
          <a:xfrm>
            <a:off x="8065008" y="1600200"/>
            <a:ext cx="1737360" cy="65836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Google Sheet</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master price list</a:t>
            </a:r>
            <a:endParaRPr lang="en-US" sz="1300" dirty="0"/>
          </a:p>
        </p:txBody>
      </p:sp>
      <p:sp>
        <p:nvSpPr>
          <p:cNvPr id="16" name="Arrow"/>
          <p:cNvSpPr/>
          <p:nvPr/>
        </p:nvSpPr>
        <p:spPr>
          <a:xfrm>
            <a:off x="9875520" y="1929384"/>
            <a:ext cx="274320" cy="0"/>
          </a:xfrm>
          <a:prstGeom prst="line">
            <a:avLst/>
          </a:prstGeom>
          <a:noFill/>
          <a:ln w="22225">
            <a:solidFill>
              <a:srgbClr val="46544D"/>
            </a:solidFill>
            <a:prstDash val="solid"/>
            <a:tailEnd type="triangle"/>
          </a:ln>
        </p:spPr>
      </p:sp>
      <p:sp>
        <p:nvSpPr>
          <p:cNvPr id="17" name="Box Publish CSV"/>
          <p:cNvSpPr/>
          <p:nvPr/>
        </p:nvSpPr>
        <p:spPr>
          <a:xfrm>
            <a:off x="10149840" y="1600200"/>
            <a:ext cx="1371600" cy="658368"/>
          </a:xfrm>
          <a:prstGeom prst="roundRect">
            <a:avLst>
              <a:gd name="adj" fmla="val 9722"/>
            </a:avLst>
          </a:prstGeom>
          <a:solidFill>
            <a:srgbClr val="FFFFFF"/>
          </a:solidFill>
          <a:ln w="19050">
            <a:solidFill>
              <a:srgbClr val="B26A00"/>
            </a:solidFill>
            <a:prstDash val="solid"/>
          </a:ln>
        </p:spPr>
      </p:sp>
      <p:sp>
        <p:nvSpPr>
          <p:cNvPr id="18" name="Text Publish CSV"/>
          <p:cNvSpPr txBox="1"/>
          <p:nvPr/>
        </p:nvSpPr>
        <p:spPr>
          <a:xfrm>
            <a:off x="10259568" y="1600200"/>
            <a:ext cx="1188720" cy="658368"/>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Publish CSV</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Publish to web</a:t>
            </a:r>
            <a:endParaRPr lang="en-US" sz="1300" dirty="0"/>
          </a:p>
        </p:txBody>
      </p:sp>
      <p:sp>
        <p:nvSpPr>
          <p:cNvPr id="19" name="Arrow"/>
          <p:cNvSpPr/>
          <p:nvPr/>
        </p:nvSpPr>
        <p:spPr>
          <a:xfrm>
            <a:off x="6492240" y="2258568"/>
            <a:ext cx="0" cy="530352"/>
          </a:xfrm>
          <a:prstGeom prst="line">
            <a:avLst/>
          </a:prstGeom>
          <a:noFill/>
          <a:ln w="22225">
            <a:solidFill>
              <a:srgbClr val="46544D"/>
            </a:solidFill>
            <a:prstDash val="solid"/>
            <a:tailEnd type="triangle"/>
          </a:ln>
        </p:spPr>
      </p:sp>
      <p:sp>
        <p:nvSpPr>
          <p:cNvPr id="20" name="Note the app"/>
          <p:cNvSpPr txBox="1"/>
          <p:nvPr/>
        </p:nvSpPr>
        <p:spPr>
          <a:xfrm>
            <a:off x="6583680" y="2395728"/>
            <a:ext cx="1097280" cy="237744"/>
          </a:xfrm>
          <a:prstGeom prst="rect">
            <a:avLst/>
          </a:prstGeom>
          <a:noFill/>
          <a:ln/>
        </p:spPr>
        <p:txBody>
          <a:bodyPr wrap="square" lIns="0" tIns="0" rIns="0" bIns="0" rtlCol="0" anchor="ctr"/>
          <a:lstStyle/>
          <a:p>
            <a:pPr indent="0" marL="0">
              <a:buNone/>
            </a:pPr>
            <a:r>
              <a:rPr lang="en-US" sz="1000" i="1" dirty="0">
                <a:solidFill>
                  <a:srgbClr val="55635C"/>
                </a:solidFill>
                <a:latin typeface="Calibri" pitchFamily="34" charset="0"/>
                <a:ea typeface="Calibri" pitchFamily="34" charset="-122"/>
                <a:cs typeface="Calibri" pitchFamily="34" charset="-120"/>
              </a:rPr>
              <a:t>the app</a:t>
            </a:r>
            <a:endParaRPr lang="en-US" sz="1000" dirty="0"/>
          </a:p>
        </p:txBody>
      </p:sp>
      <p:sp>
        <p:nvSpPr>
          <p:cNvPr id="21" name="Arrow"/>
          <p:cNvSpPr/>
          <p:nvPr/>
        </p:nvSpPr>
        <p:spPr>
          <a:xfrm>
            <a:off x="10835640" y="2258568"/>
            <a:ext cx="0" cy="530352"/>
          </a:xfrm>
          <a:prstGeom prst="line">
            <a:avLst/>
          </a:prstGeom>
          <a:noFill/>
          <a:ln w="22225">
            <a:solidFill>
              <a:srgbClr val="46544D"/>
            </a:solidFill>
            <a:prstDash val="solid"/>
            <a:tailEnd type="triangle"/>
          </a:ln>
        </p:spPr>
      </p:sp>
      <p:sp>
        <p:nvSpPr>
          <p:cNvPr id="22" name="Note prices (CSV)"/>
          <p:cNvSpPr txBox="1"/>
          <p:nvPr/>
        </p:nvSpPr>
        <p:spPr>
          <a:xfrm>
            <a:off x="9646920" y="2395728"/>
            <a:ext cx="1188720" cy="237744"/>
          </a:xfrm>
          <a:prstGeom prst="rect">
            <a:avLst/>
          </a:prstGeom>
          <a:noFill/>
          <a:ln/>
        </p:spPr>
        <p:txBody>
          <a:bodyPr wrap="square" lIns="0" tIns="0" rIns="0" bIns="0" rtlCol="0" anchor="ctr"/>
          <a:lstStyle/>
          <a:p>
            <a:pPr indent="0" marL="0">
              <a:buNone/>
            </a:pPr>
            <a:r>
              <a:rPr lang="en-US" sz="1000" i="1" dirty="0">
                <a:solidFill>
                  <a:srgbClr val="55635C"/>
                </a:solidFill>
                <a:latin typeface="Calibri" pitchFamily="34" charset="0"/>
                <a:ea typeface="Calibri" pitchFamily="34" charset="-122"/>
                <a:cs typeface="Calibri" pitchFamily="34" charset="-120"/>
              </a:rPr>
              <a:t>prices (CSV)</a:t>
            </a:r>
            <a:endParaRPr lang="en-US" sz="1000" dirty="0"/>
          </a:p>
        </p:txBody>
      </p:sp>
      <p:sp>
        <p:nvSpPr>
          <p:cNvPr id="23" name="Panel 2  PHONE OR TABLET (CHROME APP, WORKS OFFLINE)"/>
          <p:cNvSpPr/>
          <p:nvPr/>
        </p:nvSpPr>
        <p:spPr>
          <a:xfrm>
            <a:off x="457200" y="2788920"/>
            <a:ext cx="11274552" cy="2194560"/>
          </a:xfrm>
          <a:prstGeom prst="roundRect">
            <a:avLst>
              <a:gd name="adj" fmla="val 3333"/>
            </a:avLst>
          </a:prstGeom>
          <a:solidFill>
            <a:srgbClr val="E6F2EB"/>
          </a:solidFill>
          <a:ln w="12700">
            <a:solidFill>
              <a:srgbClr val="B7D6C4"/>
            </a:solidFill>
            <a:prstDash val="solid"/>
          </a:ln>
        </p:spPr>
      </p:sp>
      <p:sp>
        <p:nvSpPr>
          <p:cNvPr id="24" name="Label 2  PHONE OR TABLET (CHROME APP, WORKS OFFLINE)"/>
          <p:cNvSpPr txBox="1"/>
          <p:nvPr/>
        </p:nvSpPr>
        <p:spPr>
          <a:xfrm>
            <a:off x="594360" y="2843784"/>
            <a:ext cx="11000232" cy="274320"/>
          </a:xfrm>
          <a:prstGeom prst="rect">
            <a:avLst/>
          </a:prstGeom>
          <a:noFill/>
          <a:ln/>
        </p:spPr>
        <p:txBody>
          <a:bodyPr wrap="square" lIns="0" tIns="0" rIns="0" bIns="0" rtlCol="0" anchor="ctr"/>
          <a:lstStyle/>
          <a:p>
            <a:pPr indent="0" marL="0">
              <a:buNone/>
            </a:pPr>
            <a:r>
              <a:rPr lang="en-US" sz="1100" b="1" dirty="0">
                <a:solidFill>
                  <a:srgbClr val="1F6E4A"/>
                </a:solidFill>
                <a:latin typeface="Calibri" pitchFamily="34" charset="0"/>
                <a:ea typeface="Calibri" pitchFamily="34" charset="-122"/>
                <a:cs typeface="Calibri" pitchFamily="34" charset="-120"/>
              </a:rPr>
              <a:t>2  PHONE OR TABLET (CHROME APP, WORKS OFFLINE)</a:t>
            </a:r>
            <a:endParaRPr lang="en-US" sz="1100" dirty="0"/>
          </a:p>
        </p:txBody>
      </p:sp>
      <p:sp>
        <p:nvSpPr>
          <p:cNvPr id="25" name="Box Open the app"/>
          <p:cNvSpPr/>
          <p:nvPr/>
        </p:nvSpPr>
        <p:spPr>
          <a:xfrm>
            <a:off x="731520" y="3200400"/>
            <a:ext cx="2331720" cy="731520"/>
          </a:xfrm>
          <a:prstGeom prst="roundRect">
            <a:avLst>
              <a:gd name="adj" fmla="val 8750"/>
            </a:avLst>
          </a:prstGeom>
          <a:solidFill>
            <a:srgbClr val="FFFFFF"/>
          </a:solidFill>
          <a:ln w="19050">
            <a:solidFill>
              <a:srgbClr val="1F6E4A"/>
            </a:solidFill>
            <a:prstDash val="solid"/>
          </a:ln>
        </p:spPr>
      </p:sp>
      <p:sp>
        <p:nvSpPr>
          <p:cNvPr id="26" name="Text Open the app"/>
          <p:cNvSpPr txBox="1"/>
          <p:nvPr/>
        </p:nvSpPr>
        <p:spPr>
          <a:xfrm>
            <a:off x="1188720" y="320040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Open the app</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install it once, opens offline</a:t>
            </a:r>
            <a:endParaRPr lang="en-US" sz="1300" dirty="0"/>
          </a:p>
        </p:txBody>
      </p:sp>
      <p:sp>
        <p:nvSpPr>
          <p:cNvPr id="27" name="Badge 1"/>
          <p:cNvSpPr/>
          <p:nvPr/>
        </p:nvSpPr>
        <p:spPr>
          <a:xfrm>
            <a:off x="841248" y="3429000"/>
            <a:ext cx="274320" cy="274320"/>
          </a:xfrm>
          <a:prstGeom prst="ellipse">
            <a:avLst/>
          </a:prstGeom>
          <a:solidFill>
            <a:srgbClr val="1F6E4A"/>
          </a:solidFill>
          <a:ln w="6350">
            <a:solidFill>
              <a:srgbClr val="1F6E4A"/>
            </a:solidFill>
            <a:prstDash val="solid"/>
          </a:ln>
        </p:spPr>
      </p:sp>
      <p:sp>
        <p:nvSpPr>
          <p:cNvPr id="28" name="BadgeText 1"/>
          <p:cNvSpPr txBox="1"/>
          <p:nvPr/>
        </p:nvSpPr>
        <p:spPr>
          <a:xfrm>
            <a:off x="841248" y="34290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Arrow"/>
          <p:cNvSpPr/>
          <p:nvPr/>
        </p:nvSpPr>
        <p:spPr>
          <a:xfrm>
            <a:off x="3063240" y="3566160"/>
            <a:ext cx="502920" cy="0"/>
          </a:xfrm>
          <a:prstGeom prst="line">
            <a:avLst/>
          </a:prstGeom>
          <a:noFill/>
          <a:ln w="22225">
            <a:solidFill>
              <a:srgbClr val="46544D"/>
            </a:solidFill>
            <a:prstDash val="solid"/>
            <a:tailEnd type="triangle"/>
          </a:ln>
        </p:spPr>
      </p:sp>
      <p:sp>
        <p:nvSpPr>
          <p:cNvPr id="30" name="Box Fetch price list"/>
          <p:cNvSpPr/>
          <p:nvPr/>
        </p:nvSpPr>
        <p:spPr>
          <a:xfrm>
            <a:off x="3566160" y="3200400"/>
            <a:ext cx="2331720" cy="731520"/>
          </a:xfrm>
          <a:prstGeom prst="roundRect">
            <a:avLst>
              <a:gd name="adj" fmla="val 8750"/>
            </a:avLst>
          </a:prstGeom>
          <a:solidFill>
            <a:srgbClr val="FFFFFF"/>
          </a:solidFill>
          <a:ln w="19050">
            <a:solidFill>
              <a:srgbClr val="B26A00"/>
            </a:solidFill>
            <a:prstDash val="solid"/>
          </a:ln>
        </p:spPr>
      </p:sp>
      <p:sp>
        <p:nvSpPr>
          <p:cNvPr id="31" name="Text Fetch price list"/>
          <p:cNvSpPr txBox="1"/>
          <p:nvPr/>
        </p:nvSpPr>
        <p:spPr>
          <a:xfrm>
            <a:off x="4023360" y="320040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Fetch price list</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replaces the saved list</a:t>
            </a:r>
            <a:endParaRPr lang="en-US" sz="1300" dirty="0"/>
          </a:p>
        </p:txBody>
      </p:sp>
      <p:sp>
        <p:nvSpPr>
          <p:cNvPr id="32" name="Badge 2"/>
          <p:cNvSpPr/>
          <p:nvPr/>
        </p:nvSpPr>
        <p:spPr>
          <a:xfrm>
            <a:off x="3675888" y="3429000"/>
            <a:ext cx="274320" cy="274320"/>
          </a:xfrm>
          <a:prstGeom prst="ellipse">
            <a:avLst/>
          </a:prstGeom>
          <a:solidFill>
            <a:srgbClr val="B26A00"/>
          </a:solidFill>
          <a:ln w="6350">
            <a:solidFill>
              <a:srgbClr val="B26A00"/>
            </a:solidFill>
            <a:prstDash val="solid"/>
          </a:ln>
        </p:spPr>
      </p:sp>
      <p:sp>
        <p:nvSpPr>
          <p:cNvPr id="33" name="BadgeText 2"/>
          <p:cNvSpPr txBox="1"/>
          <p:nvPr/>
        </p:nvSpPr>
        <p:spPr>
          <a:xfrm>
            <a:off x="3675888" y="34290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Arrow"/>
          <p:cNvSpPr/>
          <p:nvPr/>
        </p:nvSpPr>
        <p:spPr>
          <a:xfrm>
            <a:off x="5897880" y="3566160"/>
            <a:ext cx="502920" cy="0"/>
          </a:xfrm>
          <a:prstGeom prst="line">
            <a:avLst/>
          </a:prstGeom>
          <a:noFill/>
          <a:ln w="22225">
            <a:solidFill>
              <a:srgbClr val="46544D"/>
            </a:solidFill>
            <a:prstDash val="solid"/>
            <a:tailEnd type="triangle"/>
          </a:ln>
        </p:spPr>
      </p:sp>
      <p:sp>
        <p:nvSpPr>
          <p:cNvPr id="35" name="Box Type or speak"/>
          <p:cNvSpPr/>
          <p:nvPr/>
        </p:nvSpPr>
        <p:spPr>
          <a:xfrm>
            <a:off x="6400800" y="3200400"/>
            <a:ext cx="2331720" cy="731520"/>
          </a:xfrm>
          <a:prstGeom prst="roundRect">
            <a:avLst>
              <a:gd name="adj" fmla="val 8750"/>
            </a:avLst>
          </a:prstGeom>
          <a:solidFill>
            <a:srgbClr val="FFFFFF"/>
          </a:solidFill>
          <a:ln w="19050">
            <a:solidFill>
              <a:srgbClr val="1F6E4A"/>
            </a:solidFill>
            <a:prstDash val="solid"/>
          </a:ln>
        </p:spPr>
      </p:sp>
      <p:sp>
        <p:nvSpPr>
          <p:cNvPr id="36" name="Text Type or speak"/>
          <p:cNvSpPr txBox="1"/>
          <p:nvPr/>
        </p:nvSpPr>
        <p:spPr>
          <a:xfrm>
            <a:off x="6858000" y="320040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Type or speak</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live voice, Tamil and English</a:t>
            </a:r>
            <a:endParaRPr lang="en-US" sz="1300" dirty="0"/>
          </a:p>
        </p:txBody>
      </p:sp>
      <p:sp>
        <p:nvSpPr>
          <p:cNvPr id="37" name="Badge 3"/>
          <p:cNvSpPr/>
          <p:nvPr/>
        </p:nvSpPr>
        <p:spPr>
          <a:xfrm>
            <a:off x="6510528" y="3429000"/>
            <a:ext cx="274320" cy="274320"/>
          </a:xfrm>
          <a:prstGeom prst="ellipse">
            <a:avLst/>
          </a:prstGeom>
          <a:solidFill>
            <a:srgbClr val="1F6E4A"/>
          </a:solidFill>
          <a:ln w="6350">
            <a:solidFill>
              <a:srgbClr val="1F6E4A"/>
            </a:solidFill>
            <a:prstDash val="solid"/>
          </a:ln>
        </p:spPr>
      </p:sp>
      <p:sp>
        <p:nvSpPr>
          <p:cNvPr id="38" name="BadgeText 3"/>
          <p:cNvSpPr txBox="1"/>
          <p:nvPr/>
        </p:nvSpPr>
        <p:spPr>
          <a:xfrm>
            <a:off x="6510528" y="34290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9" name="Arrow"/>
          <p:cNvSpPr/>
          <p:nvPr/>
        </p:nvSpPr>
        <p:spPr>
          <a:xfrm>
            <a:off x="8732520" y="3566160"/>
            <a:ext cx="502920" cy="0"/>
          </a:xfrm>
          <a:prstGeom prst="line">
            <a:avLst/>
          </a:prstGeom>
          <a:noFill/>
          <a:ln w="22225">
            <a:solidFill>
              <a:srgbClr val="46544D"/>
            </a:solidFill>
            <a:prstDash val="solid"/>
            <a:tailEnd type="triangle"/>
          </a:ln>
        </p:spPr>
      </p:sp>
      <p:sp>
        <p:nvSpPr>
          <p:cNvPr id="40" name="Box Match product"/>
          <p:cNvSpPr/>
          <p:nvPr/>
        </p:nvSpPr>
        <p:spPr>
          <a:xfrm>
            <a:off x="9235440" y="3200400"/>
            <a:ext cx="2331720" cy="731520"/>
          </a:xfrm>
          <a:prstGeom prst="roundRect">
            <a:avLst>
              <a:gd name="adj" fmla="val 8750"/>
            </a:avLst>
          </a:prstGeom>
          <a:solidFill>
            <a:srgbClr val="FFFFFF"/>
          </a:solidFill>
          <a:ln w="19050">
            <a:solidFill>
              <a:srgbClr val="1F6E4A"/>
            </a:solidFill>
            <a:prstDash val="solid"/>
          </a:ln>
        </p:spPr>
      </p:sp>
      <p:sp>
        <p:nvSpPr>
          <p:cNvPr id="41" name="Text Match product"/>
          <p:cNvSpPr txBox="1"/>
          <p:nvPr/>
        </p:nvSpPr>
        <p:spPr>
          <a:xfrm>
            <a:off x="9692640" y="320040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Match product</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one clear match is added, else tap</a:t>
            </a:r>
            <a:endParaRPr lang="en-US" sz="1300" dirty="0"/>
          </a:p>
        </p:txBody>
      </p:sp>
      <p:sp>
        <p:nvSpPr>
          <p:cNvPr id="42" name="Badge 4"/>
          <p:cNvSpPr/>
          <p:nvPr/>
        </p:nvSpPr>
        <p:spPr>
          <a:xfrm>
            <a:off x="9345168" y="3429000"/>
            <a:ext cx="274320" cy="274320"/>
          </a:xfrm>
          <a:prstGeom prst="ellipse">
            <a:avLst/>
          </a:prstGeom>
          <a:solidFill>
            <a:srgbClr val="1F6E4A"/>
          </a:solidFill>
          <a:ln w="6350">
            <a:solidFill>
              <a:srgbClr val="1F6E4A"/>
            </a:solidFill>
            <a:prstDash val="solid"/>
          </a:ln>
        </p:spPr>
      </p:sp>
      <p:sp>
        <p:nvSpPr>
          <p:cNvPr id="43" name="BadgeText 4"/>
          <p:cNvSpPr txBox="1"/>
          <p:nvPr/>
        </p:nvSpPr>
        <p:spPr>
          <a:xfrm>
            <a:off x="9345168" y="342900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Arrow"/>
          <p:cNvSpPr/>
          <p:nvPr/>
        </p:nvSpPr>
        <p:spPr>
          <a:xfrm>
            <a:off x="10401300" y="3931920"/>
            <a:ext cx="0" cy="274320"/>
          </a:xfrm>
          <a:prstGeom prst="line">
            <a:avLst/>
          </a:prstGeom>
          <a:noFill/>
          <a:ln w="22225">
            <a:solidFill>
              <a:srgbClr val="46544D"/>
            </a:solidFill>
            <a:prstDash val="solid"/>
            <a:tailEnd type="triangle"/>
          </a:ln>
        </p:spPr>
      </p:sp>
      <p:sp>
        <p:nvSpPr>
          <p:cNvPr id="45" name="Box Bill table"/>
          <p:cNvSpPr/>
          <p:nvPr/>
        </p:nvSpPr>
        <p:spPr>
          <a:xfrm>
            <a:off x="9235440" y="4206240"/>
            <a:ext cx="2331720" cy="731520"/>
          </a:xfrm>
          <a:prstGeom prst="roundRect">
            <a:avLst>
              <a:gd name="adj" fmla="val 8750"/>
            </a:avLst>
          </a:prstGeom>
          <a:solidFill>
            <a:srgbClr val="FFFFFF"/>
          </a:solidFill>
          <a:ln w="19050">
            <a:solidFill>
              <a:srgbClr val="1F6E4A"/>
            </a:solidFill>
            <a:prstDash val="solid"/>
          </a:ln>
        </p:spPr>
      </p:sp>
      <p:sp>
        <p:nvSpPr>
          <p:cNvPr id="46" name="Text Bill table"/>
          <p:cNvSpPr txBox="1"/>
          <p:nvPr/>
        </p:nvSpPr>
        <p:spPr>
          <a:xfrm>
            <a:off x="9692640" y="420624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Bill table</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edit qty or price, Grand Total</a:t>
            </a:r>
            <a:endParaRPr lang="en-US" sz="1300" dirty="0"/>
          </a:p>
        </p:txBody>
      </p:sp>
      <p:sp>
        <p:nvSpPr>
          <p:cNvPr id="47" name="Badge 5"/>
          <p:cNvSpPr/>
          <p:nvPr/>
        </p:nvSpPr>
        <p:spPr>
          <a:xfrm>
            <a:off x="9345168" y="4434840"/>
            <a:ext cx="274320" cy="274320"/>
          </a:xfrm>
          <a:prstGeom prst="ellipse">
            <a:avLst/>
          </a:prstGeom>
          <a:solidFill>
            <a:srgbClr val="1F6E4A"/>
          </a:solidFill>
          <a:ln w="6350">
            <a:solidFill>
              <a:srgbClr val="1F6E4A"/>
            </a:solidFill>
            <a:prstDash val="solid"/>
          </a:ln>
        </p:spPr>
      </p:sp>
      <p:sp>
        <p:nvSpPr>
          <p:cNvPr id="48" name="BadgeText 5"/>
          <p:cNvSpPr txBox="1"/>
          <p:nvPr/>
        </p:nvSpPr>
        <p:spPr>
          <a:xfrm>
            <a:off x="9345168" y="4434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9" name="Arrow"/>
          <p:cNvSpPr/>
          <p:nvPr/>
        </p:nvSpPr>
        <p:spPr>
          <a:xfrm flipH="1">
            <a:off x="8732520" y="4572000"/>
            <a:ext cx="502920" cy="0"/>
          </a:xfrm>
          <a:prstGeom prst="line">
            <a:avLst/>
          </a:prstGeom>
          <a:noFill/>
          <a:ln w="22225">
            <a:solidFill>
              <a:srgbClr val="46544D"/>
            </a:solidFill>
            <a:prstDash val="solid"/>
            <a:tailEnd type="triangle"/>
          </a:ln>
        </p:spPr>
      </p:sp>
      <p:sp>
        <p:nvSpPr>
          <p:cNvPr id="50" name="Box Confirm"/>
          <p:cNvSpPr/>
          <p:nvPr/>
        </p:nvSpPr>
        <p:spPr>
          <a:xfrm>
            <a:off x="6400800" y="4206240"/>
            <a:ext cx="2331720" cy="731520"/>
          </a:xfrm>
          <a:prstGeom prst="roundRect">
            <a:avLst>
              <a:gd name="adj" fmla="val 8750"/>
            </a:avLst>
          </a:prstGeom>
          <a:solidFill>
            <a:srgbClr val="FFFFFF"/>
          </a:solidFill>
          <a:ln w="19050">
            <a:solidFill>
              <a:srgbClr val="1F6E4A"/>
            </a:solidFill>
            <a:prstDash val="solid"/>
          </a:ln>
        </p:spPr>
      </p:sp>
      <p:sp>
        <p:nvSpPr>
          <p:cNvPr id="51" name="Text Confirm"/>
          <p:cNvSpPr txBox="1"/>
          <p:nvPr/>
        </p:nvSpPr>
        <p:spPr>
          <a:xfrm>
            <a:off x="6858000" y="420624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Confirm</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say 'bill confirm' (3 s) or tap</a:t>
            </a:r>
            <a:endParaRPr lang="en-US" sz="1300" dirty="0"/>
          </a:p>
        </p:txBody>
      </p:sp>
      <p:sp>
        <p:nvSpPr>
          <p:cNvPr id="52" name="Badge 6"/>
          <p:cNvSpPr/>
          <p:nvPr/>
        </p:nvSpPr>
        <p:spPr>
          <a:xfrm>
            <a:off x="6510528" y="4434840"/>
            <a:ext cx="274320" cy="274320"/>
          </a:xfrm>
          <a:prstGeom prst="ellipse">
            <a:avLst/>
          </a:prstGeom>
          <a:solidFill>
            <a:srgbClr val="1F6E4A"/>
          </a:solidFill>
          <a:ln w="6350">
            <a:solidFill>
              <a:srgbClr val="1F6E4A"/>
            </a:solidFill>
            <a:prstDash val="solid"/>
          </a:ln>
        </p:spPr>
      </p:sp>
      <p:sp>
        <p:nvSpPr>
          <p:cNvPr id="53" name="BadgeText 6"/>
          <p:cNvSpPr txBox="1"/>
          <p:nvPr/>
        </p:nvSpPr>
        <p:spPr>
          <a:xfrm>
            <a:off x="6510528" y="4434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4" name="Arrow"/>
          <p:cNvSpPr/>
          <p:nvPr/>
        </p:nvSpPr>
        <p:spPr>
          <a:xfrm flipH="1">
            <a:off x="5897880" y="4572000"/>
            <a:ext cx="502920" cy="0"/>
          </a:xfrm>
          <a:prstGeom prst="line">
            <a:avLst/>
          </a:prstGeom>
          <a:noFill/>
          <a:ln w="22225">
            <a:solidFill>
              <a:srgbClr val="46544D"/>
            </a:solidFill>
            <a:prstDash val="solid"/>
            <a:tailEnd type="triangle"/>
          </a:ln>
        </p:spPr>
      </p:sp>
      <p:sp>
        <p:nvSpPr>
          <p:cNvPr id="55" name="Box Saved on the phone"/>
          <p:cNvSpPr/>
          <p:nvPr/>
        </p:nvSpPr>
        <p:spPr>
          <a:xfrm>
            <a:off x="3566160" y="4206240"/>
            <a:ext cx="2331720" cy="731520"/>
          </a:xfrm>
          <a:prstGeom prst="roundRect">
            <a:avLst>
              <a:gd name="adj" fmla="val 8750"/>
            </a:avLst>
          </a:prstGeom>
          <a:solidFill>
            <a:srgbClr val="FFFFFF"/>
          </a:solidFill>
          <a:ln w="19050">
            <a:solidFill>
              <a:srgbClr val="1F6E4A"/>
            </a:solidFill>
            <a:prstDash val="solid"/>
          </a:ln>
        </p:spPr>
      </p:sp>
      <p:sp>
        <p:nvSpPr>
          <p:cNvPr id="56" name="Text Saved on the phone"/>
          <p:cNvSpPr txBox="1"/>
          <p:nvPr/>
        </p:nvSpPr>
        <p:spPr>
          <a:xfrm>
            <a:off x="4023360" y="420624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Saved on the phone</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bill no. DDMMYYYY-NNN</a:t>
            </a:r>
            <a:endParaRPr lang="en-US" sz="1300" dirty="0"/>
          </a:p>
        </p:txBody>
      </p:sp>
      <p:sp>
        <p:nvSpPr>
          <p:cNvPr id="57" name="Badge 7"/>
          <p:cNvSpPr/>
          <p:nvPr/>
        </p:nvSpPr>
        <p:spPr>
          <a:xfrm>
            <a:off x="3675888" y="4434840"/>
            <a:ext cx="274320" cy="274320"/>
          </a:xfrm>
          <a:prstGeom prst="ellipse">
            <a:avLst/>
          </a:prstGeom>
          <a:solidFill>
            <a:srgbClr val="1F6E4A"/>
          </a:solidFill>
          <a:ln w="6350">
            <a:solidFill>
              <a:srgbClr val="1F6E4A"/>
            </a:solidFill>
            <a:prstDash val="solid"/>
          </a:ln>
        </p:spPr>
      </p:sp>
      <p:sp>
        <p:nvSpPr>
          <p:cNvPr id="58" name="BadgeText 7"/>
          <p:cNvSpPr txBox="1"/>
          <p:nvPr/>
        </p:nvSpPr>
        <p:spPr>
          <a:xfrm>
            <a:off x="3675888" y="4434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9" name="Arrow"/>
          <p:cNvSpPr/>
          <p:nvPr/>
        </p:nvSpPr>
        <p:spPr>
          <a:xfrm flipH="1">
            <a:off x="3063240" y="4572000"/>
            <a:ext cx="502920" cy="0"/>
          </a:xfrm>
          <a:prstGeom prst="line">
            <a:avLst/>
          </a:prstGeom>
          <a:noFill/>
          <a:ln w="22225">
            <a:solidFill>
              <a:srgbClr val="46544D"/>
            </a:solidFill>
            <a:prstDash val="solid"/>
            <a:tailEnd type="triangle"/>
          </a:ln>
        </p:spPr>
      </p:sp>
      <p:sp>
        <p:nvSpPr>
          <p:cNvPr id="60" name="Box Print"/>
          <p:cNvSpPr/>
          <p:nvPr/>
        </p:nvSpPr>
        <p:spPr>
          <a:xfrm>
            <a:off x="731520" y="4206240"/>
            <a:ext cx="2331720" cy="731520"/>
          </a:xfrm>
          <a:prstGeom prst="roundRect">
            <a:avLst>
              <a:gd name="adj" fmla="val 8750"/>
            </a:avLst>
          </a:prstGeom>
          <a:solidFill>
            <a:srgbClr val="FFFFFF"/>
          </a:solidFill>
          <a:ln w="19050">
            <a:solidFill>
              <a:srgbClr val="1F6E4A"/>
            </a:solidFill>
            <a:prstDash val="solid"/>
          </a:ln>
        </p:spPr>
      </p:sp>
      <p:sp>
        <p:nvSpPr>
          <p:cNvPr id="61" name="Text Print"/>
          <p:cNvSpPr txBox="1"/>
          <p:nvPr/>
        </p:nvSpPr>
        <p:spPr>
          <a:xfrm>
            <a:off x="1188720" y="4206240"/>
            <a:ext cx="1801368" cy="73152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Print</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say 'print bill', 58 mm receipt</a:t>
            </a:r>
            <a:endParaRPr lang="en-US" sz="1300" dirty="0"/>
          </a:p>
        </p:txBody>
      </p:sp>
      <p:sp>
        <p:nvSpPr>
          <p:cNvPr id="62" name="Badge 8"/>
          <p:cNvSpPr/>
          <p:nvPr/>
        </p:nvSpPr>
        <p:spPr>
          <a:xfrm>
            <a:off x="841248" y="4434840"/>
            <a:ext cx="274320" cy="274320"/>
          </a:xfrm>
          <a:prstGeom prst="ellipse">
            <a:avLst/>
          </a:prstGeom>
          <a:solidFill>
            <a:srgbClr val="1F6E4A"/>
          </a:solidFill>
          <a:ln w="6350">
            <a:solidFill>
              <a:srgbClr val="1F6E4A"/>
            </a:solidFill>
            <a:prstDash val="solid"/>
          </a:ln>
        </p:spPr>
      </p:sp>
      <p:sp>
        <p:nvSpPr>
          <p:cNvPr id="63" name="BadgeText 8"/>
          <p:cNvSpPr txBox="1"/>
          <p:nvPr/>
        </p:nvSpPr>
        <p:spPr>
          <a:xfrm>
            <a:off x="841248" y="4434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4" name="Panel 3  BILLS TAB (READS THE SAVED BILLS)"/>
          <p:cNvSpPr/>
          <p:nvPr/>
        </p:nvSpPr>
        <p:spPr>
          <a:xfrm>
            <a:off x="457200" y="5349240"/>
            <a:ext cx="5394960" cy="1280160"/>
          </a:xfrm>
          <a:prstGeom prst="roundRect">
            <a:avLst>
              <a:gd name="adj" fmla="val 5714"/>
            </a:avLst>
          </a:prstGeom>
          <a:solidFill>
            <a:srgbClr val="FFFFFF"/>
          </a:solidFill>
          <a:ln w="12700">
            <a:solidFill>
              <a:srgbClr val="B7D6C4"/>
            </a:solidFill>
            <a:prstDash val="solid"/>
          </a:ln>
        </p:spPr>
      </p:sp>
      <p:sp>
        <p:nvSpPr>
          <p:cNvPr id="65" name="Label 3  BILLS TAB (READS THE SAVED BILLS)"/>
          <p:cNvSpPr txBox="1"/>
          <p:nvPr/>
        </p:nvSpPr>
        <p:spPr>
          <a:xfrm>
            <a:off x="594360" y="5404104"/>
            <a:ext cx="5120640" cy="274320"/>
          </a:xfrm>
          <a:prstGeom prst="rect">
            <a:avLst/>
          </a:prstGeom>
          <a:noFill/>
          <a:ln/>
        </p:spPr>
        <p:txBody>
          <a:bodyPr wrap="square" lIns="0" tIns="0" rIns="0" bIns="0" rtlCol="0" anchor="ctr"/>
          <a:lstStyle/>
          <a:p>
            <a:pPr indent="0" marL="0">
              <a:buNone/>
            </a:pPr>
            <a:r>
              <a:rPr lang="en-US" sz="1100" b="1" dirty="0">
                <a:solidFill>
                  <a:srgbClr val="1F6E4A"/>
                </a:solidFill>
                <a:latin typeface="Calibri" pitchFamily="34" charset="0"/>
                <a:ea typeface="Calibri" pitchFamily="34" charset="-122"/>
                <a:cs typeface="Calibri" pitchFamily="34" charset="-120"/>
              </a:rPr>
              <a:t>3  BILLS TAB (READS THE SAVED BILLS)</a:t>
            </a:r>
            <a:endParaRPr lang="en-US" sz="1100" dirty="0"/>
          </a:p>
        </p:txBody>
      </p:sp>
      <p:sp>
        <p:nvSpPr>
          <p:cNvPr id="66" name="Box View / Print"/>
          <p:cNvSpPr/>
          <p:nvPr/>
        </p:nvSpPr>
        <p:spPr>
          <a:xfrm>
            <a:off x="640080" y="5806440"/>
            <a:ext cx="1554480" cy="640080"/>
          </a:xfrm>
          <a:prstGeom prst="roundRect">
            <a:avLst>
              <a:gd name="adj" fmla="val 10000"/>
            </a:avLst>
          </a:prstGeom>
          <a:solidFill>
            <a:srgbClr val="FFFFFF"/>
          </a:solidFill>
          <a:ln w="19050">
            <a:solidFill>
              <a:srgbClr val="1F6E4A"/>
            </a:solidFill>
            <a:prstDash val="solid"/>
          </a:ln>
        </p:spPr>
      </p:sp>
      <p:sp>
        <p:nvSpPr>
          <p:cNvPr id="67" name="Text View / Print"/>
          <p:cNvSpPr txBox="1"/>
          <p:nvPr/>
        </p:nvSpPr>
        <p:spPr>
          <a:xfrm>
            <a:off x="749808" y="5806440"/>
            <a:ext cx="1371600" cy="64008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View / Print</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any earlier bill</a:t>
            </a:r>
            <a:endParaRPr lang="en-US" sz="1300" dirty="0"/>
          </a:p>
        </p:txBody>
      </p:sp>
      <p:sp>
        <p:nvSpPr>
          <p:cNvPr id="68" name="Box Export to Excel"/>
          <p:cNvSpPr/>
          <p:nvPr/>
        </p:nvSpPr>
        <p:spPr>
          <a:xfrm>
            <a:off x="2331720" y="5806440"/>
            <a:ext cx="1554480" cy="640080"/>
          </a:xfrm>
          <a:prstGeom prst="roundRect">
            <a:avLst>
              <a:gd name="adj" fmla="val 10000"/>
            </a:avLst>
          </a:prstGeom>
          <a:solidFill>
            <a:srgbClr val="FFFFFF"/>
          </a:solidFill>
          <a:ln w="19050">
            <a:solidFill>
              <a:srgbClr val="1F6E4A"/>
            </a:solidFill>
            <a:prstDash val="solid"/>
          </a:ln>
        </p:spPr>
      </p:sp>
      <p:sp>
        <p:nvSpPr>
          <p:cNvPr id="69" name="Text Export to Excel"/>
          <p:cNvSpPr txBox="1"/>
          <p:nvPr/>
        </p:nvSpPr>
        <p:spPr>
          <a:xfrm>
            <a:off x="2441448" y="5806440"/>
            <a:ext cx="1371600" cy="64008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Export to Excel</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backup file</a:t>
            </a:r>
            <a:endParaRPr lang="en-US" sz="1300" dirty="0"/>
          </a:p>
        </p:txBody>
      </p:sp>
      <p:sp>
        <p:nvSpPr>
          <p:cNvPr id="70" name="Box Delete all"/>
          <p:cNvSpPr/>
          <p:nvPr/>
        </p:nvSpPr>
        <p:spPr>
          <a:xfrm>
            <a:off x="4023360" y="5806440"/>
            <a:ext cx="1554480" cy="640080"/>
          </a:xfrm>
          <a:prstGeom prst="roundRect">
            <a:avLst>
              <a:gd name="adj" fmla="val 10000"/>
            </a:avLst>
          </a:prstGeom>
          <a:solidFill>
            <a:srgbClr val="FFFFFF"/>
          </a:solidFill>
          <a:ln w="19050">
            <a:solidFill>
              <a:srgbClr val="1F6E4A"/>
            </a:solidFill>
            <a:prstDash val="solid"/>
          </a:ln>
        </p:spPr>
      </p:sp>
      <p:sp>
        <p:nvSpPr>
          <p:cNvPr id="71" name="Text Delete all"/>
          <p:cNvSpPr txBox="1"/>
          <p:nvPr/>
        </p:nvSpPr>
        <p:spPr>
          <a:xfrm>
            <a:off x="4133088" y="5806440"/>
            <a:ext cx="1371600" cy="64008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Delete all</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fresh start</a:t>
            </a:r>
            <a:endParaRPr lang="en-US" sz="1300" dirty="0"/>
          </a:p>
        </p:txBody>
      </p:sp>
      <p:sp>
        <p:nvSpPr>
          <p:cNvPr id="72" name="Panel 4  GOOGLE SHEET SYNC (IN THE BACKGROUND)"/>
          <p:cNvSpPr/>
          <p:nvPr/>
        </p:nvSpPr>
        <p:spPr>
          <a:xfrm>
            <a:off x="6126480" y="5349240"/>
            <a:ext cx="5605272" cy="1280160"/>
          </a:xfrm>
          <a:prstGeom prst="roundRect">
            <a:avLst>
              <a:gd name="adj" fmla="val 5714"/>
            </a:avLst>
          </a:prstGeom>
          <a:solidFill>
            <a:srgbClr val="FFFFFF"/>
          </a:solidFill>
          <a:ln w="12700">
            <a:solidFill>
              <a:srgbClr val="EAD3A6"/>
            </a:solidFill>
            <a:prstDash val="solid"/>
          </a:ln>
        </p:spPr>
      </p:sp>
      <p:sp>
        <p:nvSpPr>
          <p:cNvPr id="73" name="Label 4  GOOGLE SHEET SYNC (IN THE BACKGROUND)"/>
          <p:cNvSpPr txBox="1"/>
          <p:nvPr/>
        </p:nvSpPr>
        <p:spPr>
          <a:xfrm>
            <a:off x="6263640" y="5404104"/>
            <a:ext cx="5330952" cy="274320"/>
          </a:xfrm>
          <a:prstGeom prst="rect">
            <a:avLst/>
          </a:prstGeom>
          <a:noFill/>
          <a:ln/>
        </p:spPr>
        <p:txBody>
          <a:bodyPr wrap="square" lIns="0" tIns="0" rIns="0" bIns="0" rtlCol="0" anchor="ctr"/>
          <a:lstStyle/>
          <a:p>
            <a:pPr indent="0" marL="0">
              <a:buNone/>
            </a:pPr>
            <a:r>
              <a:rPr lang="en-US" sz="1100" b="1" dirty="0">
                <a:solidFill>
                  <a:srgbClr val="B26A00"/>
                </a:solidFill>
                <a:latin typeface="Calibri" pitchFamily="34" charset="0"/>
                <a:ea typeface="Calibri" pitchFamily="34" charset="-122"/>
                <a:cs typeface="Calibri" pitchFamily="34" charset="-120"/>
              </a:rPr>
              <a:t>4  GOOGLE SHEET SYNC (IN THE BACKGROUND)</a:t>
            </a:r>
            <a:endParaRPr lang="en-US" sz="1100" dirty="0"/>
          </a:p>
        </p:txBody>
      </p:sp>
      <p:sp>
        <p:nvSpPr>
          <p:cNvPr id="74" name="Box To-send list"/>
          <p:cNvSpPr/>
          <p:nvPr/>
        </p:nvSpPr>
        <p:spPr>
          <a:xfrm>
            <a:off x="6263640" y="5806440"/>
            <a:ext cx="1554480" cy="640080"/>
          </a:xfrm>
          <a:prstGeom prst="roundRect">
            <a:avLst>
              <a:gd name="adj" fmla="val 10000"/>
            </a:avLst>
          </a:prstGeom>
          <a:solidFill>
            <a:srgbClr val="FFFFFF"/>
          </a:solidFill>
          <a:ln w="19050">
            <a:solidFill>
              <a:srgbClr val="B26A00"/>
            </a:solidFill>
            <a:prstDash val="solid"/>
          </a:ln>
        </p:spPr>
      </p:sp>
      <p:sp>
        <p:nvSpPr>
          <p:cNvPr id="75" name="Text To-send list"/>
          <p:cNvSpPr txBox="1"/>
          <p:nvPr/>
        </p:nvSpPr>
        <p:spPr>
          <a:xfrm>
            <a:off x="6373368" y="5806440"/>
            <a:ext cx="1371600" cy="64008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To-send list</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retries until sent</a:t>
            </a:r>
            <a:endParaRPr lang="en-US" sz="1300" dirty="0"/>
          </a:p>
        </p:txBody>
      </p:sp>
      <p:sp>
        <p:nvSpPr>
          <p:cNvPr id="76" name="Arrow"/>
          <p:cNvSpPr/>
          <p:nvPr/>
        </p:nvSpPr>
        <p:spPr>
          <a:xfrm>
            <a:off x="7818120" y="6126480"/>
            <a:ext cx="274320" cy="0"/>
          </a:xfrm>
          <a:prstGeom prst="line">
            <a:avLst/>
          </a:prstGeom>
          <a:noFill/>
          <a:ln w="22225">
            <a:solidFill>
              <a:srgbClr val="46544D"/>
            </a:solidFill>
            <a:prstDash val="solid"/>
            <a:tailEnd type="triangle"/>
          </a:ln>
        </p:spPr>
      </p:sp>
      <p:sp>
        <p:nvSpPr>
          <p:cNvPr id="77" name="Box Apps Script"/>
          <p:cNvSpPr/>
          <p:nvPr/>
        </p:nvSpPr>
        <p:spPr>
          <a:xfrm>
            <a:off x="8092440" y="5806440"/>
            <a:ext cx="1554480" cy="640080"/>
          </a:xfrm>
          <a:prstGeom prst="roundRect">
            <a:avLst>
              <a:gd name="adj" fmla="val 10000"/>
            </a:avLst>
          </a:prstGeom>
          <a:solidFill>
            <a:srgbClr val="FFFFFF"/>
          </a:solidFill>
          <a:ln w="19050">
            <a:solidFill>
              <a:srgbClr val="B26A00"/>
            </a:solidFill>
            <a:prstDash val="solid"/>
          </a:ln>
        </p:spPr>
      </p:sp>
      <p:sp>
        <p:nvSpPr>
          <p:cNvPr id="78" name="Text Apps Script"/>
          <p:cNvSpPr txBox="1"/>
          <p:nvPr/>
        </p:nvSpPr>
        <p:spPr>
          <a:xfrm>
            <a:off x="8202168" y="5806440"/>
            <a:ext cx="1371600" cy="64008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Apps Script</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web app + secret key</a:t>
            </a:r>
            <a:endParaRPr lang="en-US" sz="1300" dirty="0"/>
          </a:p>
        </p:txBody>
      </p:sp>
      <p:sp>
        <p:nvSpPr>
          <p:cNvPr id="79" name="Arrow"/>
          <p:cNvSpPr/>
          <p:nvPr/>
        </p:nvSpPr>
        <p:spPr>
          <a:xfrm>
            <a:off x="9646920" y="6126480"/>
            <a:ext cx="274320" cy="0"/>
          </a:xfrm>
          <a:prstGeom prst="line">
            <a:avLst/>
          </a:prstGeom>
          <a:noFill/>
          <a:ln w="22225">
            <a:solidFill>
              <a:srgbClr val="46544D"/>
            </a:solidFill>
            <a:prstDash val="solid"/>
            <a:tailEnd type="triangle"/>
          </a:ln>
        </p:spPr>
      </p:sp>
      <p:sp>
        <p:nvSpPr>
          <p:cNvPr id="80" name="Box Shop Billing"/>
          <p:cNvSpPr/>
          <p:nvPr/>
        </p:nvSpPr>
        <p:spPr>
          <a:xfrm>
            <a:off x="9921240" y="5806440"/>
            <a:ext cx="1554480" cy="640080"/>
          </a:xfrm>
          <a:prstGeom prst="roundRect">
            <a:avLst>
              <a:gd name="adj" fmla="val 10000"/>
            </a:avLst>
          </a:prstGeom>
          <a:solidFill>
            <a:srgbClr val="FFFFFF"/>
          </a:solidFill>
          <a:ln w="19050">
            <a:solidFill>
              <a:srgbClr val="B26A00"/>
            </a:solidFill>
            <a:prstDash val="solid"/>
          </a:ln>
        </p:spPr>
      </p:sp>
      <p:sp>
        <p:nvSpPr>
          <p:cNvPr id="81" name="Text Shop Billing"/>
          <p:cNvSpPr txBox="1"/>
          <p:nvPr/>
        </p:nvSpPr>
        <p:spPr>
          <a:xfrm>
            <a:off x="10030968" y="5806440"/>
            <a:ext cx="1371600" cy="640080"/>
          </a:xfrm>
          <a:prstGeom prst="rect">
            <a:avLst/>
          </a:prstGeom>
          <a:noFill/>
          <a:ln/>
        </p:spPr>
        <p:txBody>
          <a:bodyPr wrap="square" lIns="0" tIns="0" rIns="0" bIns="0" rtlCol="0" anchor="ctr"/>
          <a:lstStyle/>
          <a:p>
            <a:pPr indent="0" marL="0">
              <a:buNone/>
            </a:pPr>
            <a:r>
              <a:rPr lang="en-US" sz="1300" b="1" dirty="0">
                <a:solidFill>
                  <a:srgbClr val="1B2A24"/>
                </a:solidFill>
                <a:latin typeface="Calibri" pitchFamily="34" charset="0"/>
                <a:ea typeface="Calibri" pitchFamily="34" charset="-122"/>
                <a:cs typeface="Calibri" pitchFamily="34" charset="-120"/>
              </a:rPr>
              <a:t>Shop Billing</a:t>
            </a:r>
            <a:endParaRPr lang="en-US" sz="1300" dirty="0"/>
          </a:p>
          <a:p>
            <a:pPr indent="0" marL="0">
              <a:buNone/>
            </a:pPr>
            <a:r>
              <a:rPr lang="en-US" sz="1050" dirty="0">
                <a:solidFill>
                  <a:srgbClr val="55635C"/>
                </a:solidFill>
                <a:latin typeface="Calibri" pitchFamily="34" charset="0"/>
                <a:ea typeface="Calibri" pitchFamily="34" charset="-122"/>
                <a:cs typeface="Calibri" pitchFamily="34" charset="-120"/>
              </a:rPr>
              <a:t>Bills + Bill items</a:t>
            </a:r>
            <a:endParaRPr lang="en-US" sz="1300" dirty="0"/>
          </a:p>
        </p:txBody>
      </p:sp>
      <p:sp>
        <p:nvSpPr>
          <p:cNvPr id="82" name="Arrow"/>
          <p:cNvSpPr/>
          <p:nvPr/>
        </p:nvSpPr>
        <p:spPr>
          <a:xfrm>
            <a:off x="4114800" y="4937760"/>
            <a:ext cx="0" cy="411480"/>
          </a:xfrm>
          <a:prstGeom prst="line">
            <a:avLst/>
          </a:prstGeom>
          <a:noFill/>
          <a:ln w="22225">
            <a:solidFill>
              <a:srgbClr val="46544D"/>
            </a:solidFill>
            <a:prstDash val="solid"/>
            <a:tailEnd type="triangle"/>
          </a:ln>
        </p:spPr>
      </p:sp>
      <p:sp>
        <p:nvSpPr>
          <p:cNvPr id="83" name="Note read"/>
          <p:cNvSpPr txBox="1"/>
          <p:nvPr/>
        </p:nvSpPr>
        <p:spPr>
          <a:xfrm>
            <a:off x="4206240" y="5047488"/>
            <a:ext cx="548640" cy="237744"/>
          </a:xfrm>
          <a:prstGeom prst="rect">
            <a:avLst/>
          </a:prstGeom>
          <a:noFill/>
          <a:ln/>
        </p:spPr>
        <p:txBody>
          <a:bodyPr wrap="square" lIns="0" tIns="0" rIns="0" bIns="0" rtlCol="0" anchor="ctr"/>
          <a:lstStyle/>
          <a:p>
            <a:pPr indent="0" marL="0">
              <a:buNone/>
            </a:pPr>
            <a:r>
              <a:rPr lang="en-US" sz="1000" i="1" dirty="0">
                <a:solidFill>
                  <a:srgbClr val="55635C"/>
                </a:solidFill>
                <a:latin typeface="Calibri" pitchFamily="34" charset="0"/>
                <a:ea typeface="Calibri" pitchFamily="34" charset="-122"/>
                <a:cs typeface="Calibri" pitchFamily="34" charset="-120"/>
              </a:rPr>
              <a:t>read</a:t>
            </a:r>
            <a:endParaRPr lang="en-US" sz="1000" dirty="0"/>
          </a:p>
        </p:txBody>
      </p:sp>
      <p:sp>
        <p:nvSpPr>
          <p:cNvPr id="84" name="Arrow"/>
          <p:cNvSpPr/>
          <p:nvPr/>
        </p:nvSpPr>
        <p:spPr>
          <a:xfrm>
            <a:off x="5577840" y="4937760"/>
            <a:ext cx="0" cy="182880"/>
          </a:xfrm>
          <a:prstGeom prst="line">
            <a:avLst/>
          </a:prstGeom>
          <a:noFill/>
          <a:ln w="22225">
            <a:solidFill>
              <a:srgbClr val="46544D"/>
            </a:solidFill>
            <a:prstDash val="solid"/>
          </a:ln>
        </p:spPr>
      </p:sp>
      <p:sp>
        <p:nvSpPr>
          <p:cNvPr id="85" name="Arrow"/>
          <p:cNvSpPr/>
          <p:nvPr/>
        </p:nvSpPr>
        <p:spPr>
          <a:xfrm>
            <a:off x="5577840" y="5120640"/>
            <a:ext cx="3291840" cy="0"/>
          </a:xfrm>
          <a:prstGeom prst="line">
            <a:avLst/>
          </a:prstGeom>
          <a:noFill/>
          <a:ln w="22225">
            <a:solidFill>
              <a:srgbClr val="46544D"/>
            </a:solidFill>
            <a:prstDash val="solid"/>
          </a:ln>
        </p:spPr>
      </p:sp>
      <p:sp>
        <p:nvSpPr>
          <p:cNvPr id="86" name="Arrow"/>
          <p:cNvSpPr/>
          <p:nvPr/>
        </p:nvSpPr>
        <p:spPr>
          <a:xfrm>
            <a:off x="8869680" y="5120640"/>
            <a:ext cx="0" cy="228600"/>
          </a:xfrm>
          <a:prstGeom prst="line">
            <a:avLst/>
          </a:prstGeom>
          <a:noFill/>
          <a:ln w="22225">
            <a:solidFill>
              <a:srgbClr val="46544D"/>
            </a:solidFill>
            <a:prstDash val="solid"/>
            <a:tailEnd type="triangle"/>
          </a:ln>
        </p:spPr>
      </p:sp>
      <p:sp>
        <p:nvSpPr>
          <p:cNvPr id="87" name="Note every bill is queued, never blocks billing"/>
          <p:cNvSpPr txBox="1"/>
          <p:nvPr/>
        </p:nvSpPr>
        <p:spPr>
          <a:xfrm>
            <a:off x="9006840" y="5074920"/>
            <a:ext cx="2743200" cy="237744"/>
          </a:xfrm>
          <a:prstGeom prst="rect">
            <a:avLst/>
          </a:prstGeom>
          <a:noFill/>
          <a:ln/>
        </p:spPr>
        <p:txBody>
          <a:bodyPr wrap="square" lIns="0" tIns="0" rIns="0" bIns="0" rtlCol="0" anchor="ctr"/>
          <a:lstStyle/>
          <a:p>
            <a:pPr indent="0" marL="0">
              <a:buNone/>
            </a:pPr>
            <a:r>
              <a:rPr lang="en-US" sz="1000" i="1" dirty="0">
                <a:solidFill>
                  <a:srgbClr val="55635C"/>
                </a:solidFill>
                <a:latin typeface="Calibri" pitchFamily="34" charset="0"/>
                <a:ea typeface="Calibri" pitchFamily="34" charset="-122"/>
                <a:cs typeface="Calibri" pitchFamily="34" charset="-120"/>
              </a:rPr>
              <a:t>every bill is queued, never blocks billing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Billing - overview of all flows</dc:title>
  <dc:subject>PptxGenJS Presentation</dc:subject>
  <dc:creator>Voice Billing</dc:creator>
  <cp:lastModifiedBy>Voice Billing</cp:lastModifiedBy>
  <cp:revision>1</cp:revision>
  <dcterms:created xsi:type="dcterms:W3CDTF">2026-10-08T16:34:00Z</dcterms:created>
  <dcterms:modified xsi:type="dcterms:W3CDTF">2026-10-08T16:34:00Z</dcterms:modified>
</cp:coreProperties>
</file>